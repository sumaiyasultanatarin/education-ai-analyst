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2194560"/>
            <a:ext cx="5943600" cy="5943600"/>
          </a:xfrm>
          <a:prstGeom prst="ellipse">
            <a:avLst/>
          </a:prstGeom>
          <a:solidFill>
            <a:srgbClr val="24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560320" y="4206240"/>
            <a:ext cx="5029200" cy="5029200"/>
          </a:xfrm>
          <a:prstGeom prst="ellipse">
            <a:avLst/>
          </a:prstGeom>
          <a:solidFill>
            <a:srgbClr val="24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914400"/>
            <a:ext cx="2926080" cy="2926080"/>
          </a:xfrm>
          <a:prstGeom prst="ellipse">
            <a:avLst/>
          </a:prstGeom>
          <a:noFill/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310128"/>
            <a:ext cx="12191695" cy="411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Segoe UI"/>
              </a:rPr>
              <a:t>Education AI Analyst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56432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>
                <a:solidFill>
                  <a:srgbClr val="C7D2FE"/>
                </a:solidFill>
                <a:latin typeface="Segoe UI"/>
              </a:rPr>
              <a:t>A Multi-Agent System for Education Document &amp; Social-Sentiment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50">
                <a:solidFill>
                  <a:srgbClr val="94A3B8"/>
                </a:solidFill>
                <a:latin typeface="Segoe UI"/>
              </a:rPr>
              <a:t>Computer Science Applications and Advancements — 2nd Semester, MSc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Tarin  ·  Saif  ·  Shohana  ·  Fahim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4748B"/>
                </a:solidFill>
                <a:latin typeface="Segoe UI"/>
              </a:rPr>
              <a:t>30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01 ·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424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  <a:latin typeface="Segoe U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90472"/>
            <a:ext cx="384048" cy="38404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1453896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b="1" sz="1550">
                <a:solidFill>
                  <a:srgbClr val="1E293B"/>
                </a:solidFill>
                <a:latin typeface="Segoe UI"/>
              </a:rPr>
              <a:t>Scattered evidence.  </a:t>
            </a:r>
            <a:r>
              <a:rPr sz="1550">
                <a:solidFill>
                  <a:srgbClr val="475569"/>
                </a:solidFill>
                <a:latin typeface="Segoe UI"/>
              </a:rPr>
              <a:t>Teacher-performance and enrollment signal lives across result sheets, scanned forms, spreadsheets, and Facebook comments — nowhere unified.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542032"/>
            <a:ext cx="384048" cy="38404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505456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b="1" sz="1550">
                <a:solidFill>
                  <a:srgbClr val="1E293B"/>
                </a:solidFill>
                <a:latin typeface="Segoe UI"/>
              </a:rPr>
              <a:t>Slow, manual synthesis.  </a:t>
            </a:r>
            <a:r>
              <a:rPr sz="1550">
                <a:solidFill>
                  <a:srgbClr val="475569"/>
                </a:solidFill>
                <a:latin typeface="Segoe UI"/>
              </a:rPr>
              <a:t>Reading and cross-referencing all of it by hand takes days per term, for every department.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557016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b="1" sz="1550">
                <a:solidFill>
                  <a:srgbClr val="1E293B"/>
                </a:solidFill>
                <a:latin typeface="Segoe UI"/>
              </a:rPr>
              <a:t>High stakes, low tolerance for error.  </a:t>
            </a:r>
            <a:r>
              <a:rPr sz="1550">
                <a:solidFill>
                  <a:srgbClr val="475569"/>
                </a:solidFill>
                <a:latin typeface="Segoe UI"/>
              </a:rPr>
              <a:t>Any AI-generated judgment about staff performance is sensitive — it must be checked by a real person before anyone acts on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66360"/>
            <a:ext cx="10881360" cy="8686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50" b="1" i="1">
                <a:solidFill>
                  <a:srgbClr val="4338CA"/>
                </a:solidFill>
                <a:latin typeface="Segoe UI"/>
              </a:rPr>
              <a:t>Goal — automate the reading and analysis. Keep a human firmly in control of what's released.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Education AI Analyst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0" y="3200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02 ·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424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  <a:latin typeface="Segoe UI"/>
              </a:rPr>
              <a:t>Solution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90472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b="1" sz="1750">
                <a:solidFill>
                  <a:srgbClr val="1E293B"/>
                </a:solidFill>
                <a:latin typeface="Segoe UI"/>
              </a:rPr>
              <a:t>One Manager, seven Specialists.  </a:t>
            </a:r>
            <a:r>
              <a:rPr sz="1750">
                <a:solidFill>
                  <a:srgbClr val="475569"/>
                </a:solidFill>
                <a:latin typeface="Segoe UI"/>
              </a:rPr>
              <a:t>A Supervisor agent plans and routes; seven worker agents each do one job — reading documents, reading images, analyzing numbers, reading sentiment, remembering context, writing the report, fact-checking it.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b="1" sz="1750">
                <a:solidFill>
                  <a:srgbClr val="1E293B"/>
                </a:solidFill>
                <a:latin typeface="Segoe UI"/>
              </a:rPr>
              <a:t>Built to be demo-ready on a free budget.  </a:t>
            </a:r>
            <a:r>
              <a:rPr sz="1750">
                <a:solidFill>
                  <a:srgbClr val="475569"/>
                </a:solidFill>
                <a:latin typeface="Segoe UI"/>
              </a:rPr>
              <a:t>LangGraph + FastAPI + Streamlit, powered by free-tier OpenRouter models with automatic fallback, local embeddings, and a CSV-import path so the demo never blocks on Facebook app review.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5074920"/>
            <a:ext cx="2331720" cy="77724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1. Upload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37179" y="5349240"/>
            <a:ext cx="448056" cy="2286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5074920"/>
            <a:ext cx="2331720" cy="7772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4338CA"/>
                </a:solidFill>
                <a:latin typeface="Segoe UI"/>
              </a:rPr>
              <a:t>2. Analyze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71819" y="5349240"/>
            <a:ext cx="448056" cy="2286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5074920"/>
            <a:ext cx="2331720" cy="7772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4338CA"/>
                </a:solidFill>
                <a:latin typeface="Segoe UI"/>
              </a:rPr>
              <a:t>3. Approve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06459" y="5349240"/>
            <a:ext cx="448056" cy="2286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5074920"/>
            <a:ext cx="2331720" cy="77724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4. Download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Education AI Analyst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75720" y="3200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03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424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  <a:latin typeface="Segoe UI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23712" y="1362456"/>
            <a:ext cx="5944271" cy="5001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-diagram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576" y="1417320"/>
            <a:ext cx="5834543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Education AI Analyst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75720" y="3200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04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424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  <a:latin typeface="Segoe UI"/>
              </a:rPr>
              <a:t>Supervisor + 7 Worker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90472"/>
            <a:ext cx="5349240" cy="91440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b="1" sz="1450">
                <a:solidFill>
                  <a:srgbClr val="FFFFFF"/>
                </a:solidFill>
                <a:latin typeface="Segoe UI"/>
              </a:rPr>
              <a:t>Supervisor</a:t>
            </a:r>
          </a:p>
          <a:p>
            <a:r>
              <a:rPr sz="1100">
                <a:solidFill>
                  <a:srgbClr val="E0E7FF"/>
                </a:solidFill>
                <a:latin typeface="Segoe UI"/>
              </a:rPr>
              <a:t>Plans work, routes documents, aggregates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32887"/>
            <a:ext cx="5349240" cy="9144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b="1" sz="1450">
                <a:solidFill>
                  <a:srgbClr val="1E293B"/>
                </a:solidFill>
                <a:latin typeface="Segoe UI"/>
              </a:rPr>
              <a:t>Document Ingestion</a:t>
            </a:r>
          </a:p>
          <a:p>
            <a:r>
              <a:rPr sz="1100">
                <a:solidFill>
                  <a:srgbClr val="475569"/>
                </a:solidFill>
                <a:latin typeface="Segoe UI"/>
              </a:rPr>
              <a:t>PDF / DOCX / PPTX / XLSX → structured text &amp; tables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75302"/>
            <a:ext cx="5349240" cy="9144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b="1" sz="1450">
                <a:solidFill>
                  <a:srgbClr val="1E293B"/>
                </a:solidFill>
                <a:latin typeface="Segoe UI"/>
              </a:rPr>
              <a:t>Vision / OCR</a:t>
            </a:r>
          </a:p>
          <a:p>
            <a:r>
              <a:rPr sz="1100">
                <a:solidFill>
                  <a:srgbClr val="475569"/>
                </a:solidFill>
                <a:latin typeface="Segoe UI"/>
              </a:rPr>
              <a:t>Scanned forms, screenshots → text (vision LLM)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617717"/>
            <a:ext cx="5349240" cy="9144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b="1" sz="1450">
                <a:solidFill>
                  <a:srgbClr val="1E293B"/>
                </a:solidFill>
                <a:latin typeface="Segoe UI"/>
              </a:rPr>
              <a:t>Data Analyst</a:t>
            </a:r>
          </a:p>
          <a:p>
            <a:r>
              <a:rPr sz="1100">
                <a:solidFill>
                  <a:srgbClr val="475569"/>
                </a:solidFill>
                <a:latin typeface="Segoe UI"/>
              </a:rPr>
              <a:t>pandas over enrollment/results, optional web-search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90472"/>
            <a:ext cx="5349240" cy="9144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b="1" sz="1450">
                <a:solidFill>
                  <a:srgbClr val="1E293B"/>
                </a:solidFill>
                <a:latin typeface="Segoe UI"/>
              </a:rPr>
              <a:t>Social Intelligence</a:t>
            </a:r>
          </a:p>
          <a:p>
            <a:r>
              <a:rPr sz="1100">
                <a:solidFill>
                  <a:srgbClr val="475569"/>
                </a:solidFill>
                <a:latin typeface="Segoe UI"/>
              </a:rPr>
              <a:t>Facebook comments → sentiment (live API or CSV import)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7"/>
            <a:ext cx="5349240" cy="9144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b="1" sz="1450">
                <a:solidFill>
                  <a:srgbClr val="1E293B"/>
                </a:solidFill>
                <a:latin typeface="Segoe UI"/>
              </a:rPr>
              <a:t>Knowledge / RAG</a:t>
            </a:r>
          </a:p>
          <a:p>
            <a:r>
              <a:rPr sz="1100">
                <a:solidFill>
                  <a:srgbClr val="475569"/>
                </a:solidFill>
                <a:latin typeface="Segoe UI"/>
              </a:rPr>
              <a:t>Chroma-backed semantic memory shared across the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575302"/>
            <a:ext cx="5349240" cy="9144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b="1" sz="1450">
                <a:solidFill>
                  <a:srgbClr val="1E293B"/>
                </a:solidFill>
                <a:latin typeface="Segoe UI"/>
              </a:rPr>
              <a:t>Report Generator</a:t>
            </a:r>
          </a:p>
          <a:p>
            <a:r>
              <a:rPr sz="1100">
                <a:solidFill>
                  <a:srgbClr val="475569"/>
                </a:solidFill>
                <a:latin typeface="Segoe UI"/>
              </a:rPr>
              <a:t>Compiles a cited DOCX + PPTX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617717"/>
            <a:ext cx="5349240" cy="9144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b="1" sz="1450">
                <a:solidFill>
                  <a:srgbClr val="1E293B"/>
                </a:solidFill>
                <a:latin typeface="Segoe UI"/>
              </a:rPr>
              <a:t>QA / Critic</a:t>
            </a:r>
          </a:p>
          <a:p>
            <a:r>
              <a:rPr sz="1100">
                <a:solidFill>
                  <a:srgbClr val="475569"/>
                </a:solidFill>
                <a:latin typeface="Segoe UI"/>
              </a:rPr>
              <a:t>Fact-checks the draft against source data before a human sees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Education AI Analyst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75720" y="3200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05 · DESIGN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424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  <a:latin typeface="Segoe UI"/>
              </a:rPr>
              <a:t>Two Collaboration Patterns, Chosen Deliberately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90472"/>
            <a:ext cx="5212080" cy="3977639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b="1" sz="1800">
                <a:solidFill>
                  <a:srgbClr val="4F46E5"/>
                </a:solidFill>
                <a:latin typeface="Segoe UI"/>
              </a:rPr>
              <a:t>Intake Graph — Supervisor Hub</a:t>
            </a:r>
          </a:p>
          <a:p>
            <a:pPr>
              <a:spcBef>
                <a:spcPts val="1200"/>
              </a:spcBef>
            </a:pPr>
            <a:r>
              <a:rPr sz="1450">
                <a:solidFill>
                  <a:srgbClr val="475569"/>
                </a:solidFill>
                <a:latin typeface="Segoe UI"/>
              </a:rPr>
              <a:t>A type-based dispatch problem.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475569"/>
                </a:solidFill>
                <a:latin typeface="Segoe UI"/>
              </a:rPr>
              <a:t>Every worker (Document Ingestion, Vision/OCR, Social Intel) returns control to the Supervisor when done — routing logic stays centralized.</a:t>
            </a:r>
          </a:p>
          <a:p>
            <a:pPr>
              <a:spcBef>
                <a:spcPts val="1400"/>
              </a:spcBef>
            </a:pPr>
            <a:r>
              <a:rPr sz="1400" i="1">
                <a:solidFill>
                  <a:srgbClr val="64748B"/>
                </a:solidFill>
                <a:latin typeface="Segoe UI"/>
              </a:rPr>
              <a:t>Adding worker #9 doesn't require touching worker #4's 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90472"/>
            <a:ext cx="5212080" cy="3977639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b="1" sz="1800">
                <a:solidFill>
                  <a:srgbClr val="D97706"/>
                </a:solidFill>
                <a:latin typeface="Segoe UI"/>
              </a:rPr>
              <a:t>Report Graph — Direct Chain</a:t>
            </a:r>
          </a:p>
          <a:p>
            <a:pPr>
              <a:spcBef>
                <a:spcPts val="1200"/>
              </a:spcBef>
            </a:pPr>
            <a:r>
              <a:rPr sz="1450">
                <a:solidFill>
                  <a:srgbClr val="475569"/>
                </a:solidFill>
                <a:latin typeface="Segoe UI"/>
              </a:rPr>
              <a:t>An inherently sequential problem.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475569"/>
                </a:solidFill>
                <a:latin typeface="Segoe UI"/>
              </a:rPr>
              <a:t>Data Analyst → Knowledge/RAG → Report Generator → QA/Critic → HITL — zero Supervisor node, each agent hands off straight to the next.</a:t>
            </a:r>
          </a:p>
          <a:p>
            <a:pPr>
              <a:spcBef>
                <a:spcPts val="1400"/>
              </a:spcBef>
            </a:pPr>
            <a:r>
              <a:rPr sz="1400" i="1">
                <a:solidFill>
                  <a:srgbClr val="64748B"/>
                </a:solidFill>
                <a:latin typeface="Segoe UI"/>
              </a:rPr>
              <a:t>Confirmed straight from the compiled graph objects (.get_graph().draw_mermaid()), not just claimed.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50991"/>
            <a:ext cx="10881360" cy="5943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50" b="1">
                <a:solidFill>
                  <a:srgbClr val="4338CA"/>
                </a:solidFill>
                <a:latin typeface="Segoe UI"/>
              </a:rPr>
              <a:t>The Execution Graph panel renders both live from the running code — the diagram cannot lie or go stale.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Education AI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75720" y="3200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06 · WHAT MAKES IT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424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  <a:latin typeface="Segoe UI"/>
              </a:rPr>
              <a:t>Key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90472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1453896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b="1" sz="1550">
                <a:solidFill>
                  <a:srgbClr val="1E293B"/>
                </a:solidFill>
                <a:latin typeface="Segoe UI"/>
              </a:rPr>
              <a:t>Human-in-the-loop approval.  </a:t>
            </a:r>
            <a:r>
              <a:rPr sz="1550">
                <a:solidFill>
                  <a:srgbClr val="475569"/>
                </a:solidFill>
                <a:latin typeface="Segoe UI"/>
              </a:rPr>
              <a:t>interrupt() pauses before release — approve, reject with feedback, or retry.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267712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31136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b="1" sz="1550">
                <a:solidFill>
                  <a:srgbClr val="1E293B"/>
                </a:solidFill>
                <a:latin typeface="Segoe UI"/>
              </a:rPr>
              <a:t>Live token &amp; cost tracking.  </a:t>
            </a:r>
            <a:r>
              <a:rPr sz="1550">
                <a:solidFill>
                  <a:srgbClr val="475569"/>
                </a:solidFill>
                <a:latin typeface="Segoe UI"/>
              </a:rPr>
              <a:t>Every LLM call's tokens and estimated cost recorded per agent, visible in the UI.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44952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008376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b="1" sz="1550">
                <a:solidFill>
                  <a:srgbClr val="1E293B"/>
                </a:solidFill>
                <a:latin typeface="Segoe UI"/>
              </a:rPr>
              <a:t>Dual export.  </a:t>
            </a:r>
            <a:r>
              <a:rPr sz="1550">
                <a:solidFill>
                  <a:srgbClr val="475569"/>
                </a:solidFill>
                <a:latin typeface="Segoe UI"/>
              </a:rPr>
              <a:t>Every approved report is written as both DOCX and PPTX, with citations.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785616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b="1" sz="1550">
                <a:solidFill>
                  <a:srgbClr val="1E293B"/>
                </a:solidFill>
                <a:latin typeface="Segoe UI"/>
              </a:rPr>
              <a:t>Two independent Facebook input paths.  </a:t>
            </a:r>
            <a:r>
              <a:rPr sz="1550">
                <a:solidFill>
                  <a:srgbClr val="475569"/>
                </a:solidFill>
                <a:latin typeface="Segoe UI"/>
              </a:rPr>
              <a:t>CSV import and the live Graph API both feed the exact same sentiment-scoring step.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99432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562856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b="1" sz="1550">
                <a:solidFill>
                  <a:srgbClr val="1E293B"/>
                </a:solidFill>
                <a:latin typeface="Segoe UI"/>
              </a:rPr>
              <a:t>Resilient by design.  </a:t>
            </a:r>
            <a:r>
              <a:rPr sz="1550">
                <a:solidFill>
                  <a:srgbClr val="475569"/>
                </a:solidFill>
                <a:latin typeface="Segoe UI"/>
              </a:rPr>
              <a:t>Session state survives a backend restart (SQLite) and a browser refresh (URL-persisted session id).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376672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5340096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b="1" sz="1550">
                <a:solidFill>
                  <a:srgbClr val="1E293B"/>
                </a:solidFill>
                <a:latin typeface="Segoe UI"/>
              </a:rPr>
              <a:t>Free-tier LLM resilience.  </a:t>
            </a:r>
            <a:r>
              <a:rPr sz="1550">
                <a:solidFill>
                  <a:srgbClr val="475569"/>
                </a:solidFill>
                <a:latin typeface="Segoe UI"/>
              </a:rPr>
              <a:t>An ordered OpenRouter fallback list with retry/backoff, degrading gracefully instead of crashing.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Education AI Analyst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75720" y="3200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07 ·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424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  <a:latin typeface="Segoe UI"/>
              </a:rPr>
              <a:t>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90472"/>
          <a:ext cx="10881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Component</a:t>
                      </a:r>
                    </a:p>
                  </a:txBody>
                  <a:tcPr marL="164592" marR="109728" marT="73152" marB="7315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Choice</a:t>
                      </a:r>
                    </a:p>
                  </a:txBody>
                  <a:tcPr marL="164592" marR="109728" marT="73152" marB="73152" anchor="ctr">
                    <a:solidFill>
                      <a:srgbClr val="4F46E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293B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Orchestration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75569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LangGraph — StateGraph, interrupt() for HITL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293B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Backend</a:t>
                      </a: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75569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FastAPI</a:t>
                      </a: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293B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Frontend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75569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Streamlit — 10 pages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293B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LLMs</a:t>
                      </a: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75569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OpenRouter — free-tier models, fallback list</a:t>
                      </a: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293B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Embeddings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75569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sentence-transformers (local, free)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293B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Vector memory</a:t>
                      </a: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75569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Chroma — one collection per data type</a:t>
                      </a: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293B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Structured data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75569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SQLite — sessions + HITL checkpoints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293B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Live external data</a:t>
                      </a: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75569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Facebook Graph API, Tavily web search</a:t>
                      </a: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293B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Deployment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75569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Docker Compose + GitHub Actions CI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Education AI Analyst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75720" y="3200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08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424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  <a:latin typeface="Segoe UI"/>
              </a:rPr>
              <a:t>Status &amp;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88720"/>
            <a:ext cx="548640" cy="381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90472"/>
            <a:ext cx="310896" cy="3108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35608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b="1" sz="1650">
                <a:solidFill>
                  <a:srgbClr val="1E293B"/>
                </a:solidFill>
                <a:latin typeface="Segoe UI"/>
              </a:rPr>
              <a:t>118 automated backend tests passing.  </a:t>
            </a:r>
            <a:r>
              <a:rPr sz="1500">
                <a:solidFill>
                  <a:srgbClr val="475569"/>
                </a:solidFill>
                <a:latin typeface="Segoe UI"/>
              </a:rPr>
              <a:t>Unit + integration + end-to-end coverage per tool and agent.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267712"/>
            <a:ext cx="310896" cy="3108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212848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b="1" sz="1650">
                <a:solidFill>
                  <a:srgbClr val="1E293B"/>
                </a:solidFill>
                <a:latin typeface="Segoe UI"/>
              </a:rPr>
              <a:t>Full pipeline verified live, end to end.  </a:t>
            </a:r>
            <a:r>
              <a:rPr sz="1500">
                <a:solidFill>
                  <a:srgbClr val="475569"/>
                </a:solidFill>
                <a:latin typeface="Segoe UI"/>
              </a:rPr>
              <a:t>Upload → intake → analysis → report → QA → human approval → download, run against a real OpenRouter key.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44952"/>
            <a:ext cx="310896" cy="3108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990088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b="1" sz="1650">
                <a:solidFill>
                  <a:srgbClr val="1E293B"/>
                </a:solidFill>
                <a:latin typeface="Segoe UI"/>
              </a:rPr>
              <a:t>Real LLM integration confirmed.  </a:t>
            </a:r>
            <a:r>
              <a:rPr sz="1500">
                <a:solidFill>
                  <a:srgbClr val="475569"/>
                </a:solidFill>
                <a:latin typeface="Segoe UI"/>
              </a:rPr>
              <a:t>Actual token usage and cost tracked per call, not simulated.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310896" cy="3108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767328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b="1" sz="1650">
                <a:solidFill>
                  <a:srgbClr val="1E293B"/>
                </a:solidFill>
                <a:latin typeface="Segoe UI"/>
              </a:rPr>
              <a:t>All 10 required frontend panels implemented,  </a:t>
            </a:r>
            <a:r>
              <a:rPr sz="1500">
                <a:solidFill>
                  <a:srgbClr val="475569"/>
                </a:solidFill>
                <a:latin typeface="Segoe UI"/>
              </a:rPr>
              <a:t>wired to the live backend, not mock data — Dashboard, Trace, Comm Log, Graph, Cost, Logs, Memory, HITL, Report, Home.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99432"/>
            <a:ext cx="310896" cy="3108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544568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b="1" sz="1650">
                <a:solidFill>
                  <a:srgbClr val="1E293B"/>
                </a:solidFill>
                <a:latin typeface="Segoe UI"/>
              </a:rPr>
              <a:t>Deployable.  </a:t>
            </a:r>
            <a:r>
              <a:rPr sz="1500">
                <a:solidFill>
                  <a:srgbClr val="475569"/>
                </a:solidFill>
                <a:latin typeface="Segoe UI"/>
              </a:rPr>
              <a:t>Docker Compose (backend + frontend + Postgres + Chroma) with GitHub Actions CI running tests on every push.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Education AI Analyst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75720" y="3200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09 ·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424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  <a:latin typeface="Segoe UI"/>
              </a:rPr>
              <a:t>Team &amp; Contributions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90472"/>
          <a:ext cx="54864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37744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Name</a:t>
                      </a:r>
                    </a:p>
                  </a:txBody>
                  <a:tcPr marL="164592" marR="109728" marT="73152" marB="7315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Student ID</a:t>
                      </a:r>
                    </a:p>
                  </a:txBody>
                  <a:tcPr marL="164592" marR="109728" marT="73152" marB="73152" anchor="ctr">
                    <a:solidFill>
                      <a:srgbClr val="4F46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4F46E5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Tarin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475569"/>
                          </a:solidFill>
                        </a:defRPr>
                      </a:pP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4F46E5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Saif</a:t>
                      </a: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475569"/>
                          </a:solidFill>
                        </a:defRPr>
                      </a:pP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4F46E5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Shohana</a:t>
                      </a: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475569"/>
                          </a:solidFill>
                        </a:defRPr>
                      </a:pPr>
                    </a:p>
                  </a:txBody>
                  <a:tcPr marL="164592" marR="109728" marT="73152" marB="7315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4F46E5"/>
                          </a:solidFill>
                        </a:defRPr>
                      </a:pPr>
                      <a:r>
                        <a:rPr>
                          <a:latin typeface="Segoe UI"/>
                        </a:rPr>
                        <a:t>Fahim</a:t>
                      </a: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475569"/>
                          </a:solidFill>
                        </a:defRPr>
                      </a:pPr>
                    </a:p>
                  </a:txBody>
                  <a:tcPr marL="164592" marR="109728" marT="73152" marB="7315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46520" y="1472184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64748B"/>
                </a:solidFill>
                <a:latin typeface="Segoe UI"/>
              </a:rPr>
              <a:t>Contributions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56232"/>
            <a:ext cx="5074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b="1" sz="1350">
                <a:solidFill>
                  <a:srgbClr val="1E293B"/>
                </a:solidFill>
                <a:latin typeface="Segoe UI"/>
              </a:rPr>
              <a:t>Tarin  </a:t>
            </a:r>
            <a:r>
              <a:rPr sz="1300">
                <a:solidFill>
                  <a:srgbClr val="475569"/>
                </a:solidFill>
                <a:latin typeface="Segoe UI"/>
              </a:rPr>
              <a:t>Core backend, agent pipeline foundation, testing, deployment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b="1" sz="1350">
                <a:solidFill>
                  <a:srgbClr val="1E293B"/>
                </a:solidFill>
                <a:latin typeface="Segoe UI"/>
              </a:rPr>
              <a:t>Saif  </a:t>
            </a:r>
            <a:r>
              <a:rPr sz="1300">
                <a:solidFill>
                  <a:srgbClr val="475569"/>
                </a:solidFill>
                <a:latin typeface="Segoe UI"/>
              </a:rPr>
              <a:t>Knowledge/RAG, data analysis, frontend UI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b="1" sz="1350">
                <a:solidFill>
                  <a:srgbClr val="1E293B"/>
                </a:solidFill>
                <a:latin typeface="Segoe UI"/>
              </a:rPr>
              <a:t>Shohana  </a:t>
            </a:r>
            <a:r>
              <a:rPr sz="1300">
                <a:solidFill>
                  <a:srgbClr val="475569"/>
                </a:solidFill>
                <a:latin typeface="Segoe UI"/>
              </a:rPr>
              <a:t>Sample data, Social Intelligence agent, documentation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b="1" sz="1350">
                <a:solidFill>
                  <a:srgbClr val="1E293B"/>
                </a:solidFill>
                <a:latin typeface="Segoe UI"/>
              </a:rPr>
              <a:t>Fahim  </a:t>
            </a:r>
            <a:r>
              <a:rPr sz="1300">
                <a:solidFill>
                  <a:srgbClr val="475569"/>
                </a:solidFill>
                <a:latin typeface="Segoe UI"/>
              </a:rPr>
              <a:t>Report generation, QA/Critic, CI/CD, demo prep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400">
                <a:solidFill>
                  <a:srgbClr val="1E293B"/>
                </a:solidFill>
                <a:latin typeface="Segoe UI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Education AI Analyst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75720" y="3200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