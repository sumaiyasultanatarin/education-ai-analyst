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Education AI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7D2FE"/>
                </a:solidFill>
              </a:defRPr>
            </a:pPr>
            <a:r>
              <a:t>A Multi-Agent System for Education Document &amp; Social-Sentiment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4A3B8"/>
                </a:solidFill>
              </a:defRPr>
            </a:pPr>
            <a:r>
              <a:t>Computer Science Applications and Advancements — 2nd Semester, MSc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Tarin  ·  Saif  ·  Shohana  ·  Fahim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30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900">
                <a:solidFill>
                  <a:srgbClr val="1E293B"/>
                </a:solidFill>
              </a:rPr>
              <a:t>Scattered evidence.  </a:t>
            </a:r>
            <a:r>
              <a:rPr sz="1900">
                <a:solidFill>
                  <a:srgbClr val="475569"/>
                </a:solidFill>
              </a:rPr>
              <a:t>Teacher-performance and enrollment signal lives across result sheets, scanned forms, spreadsheets, and Facebook comments — nowhere unified.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900">
                <a:solidFill>
                  <a:srgbClr val="1E293B"/>
                </a:solidFill>
              </a:rPr>
              <a:t>Slow, manual synthesis.  </a:t>
            </a:r>
            <a:r>
              <a:rPr sz="1900">
                <a:solidFill>
                  <a:srgbClr val="475569"/>
                </a:solidFill>
              </a:rPr>
              <a:t>Reading and cross-referencing all of it by hand takes days per term, for every department.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900">
                <a:solidFill>
                  <a:srgbClr val="1E293B"/>
                </a:solidFill>
              </a:rPr>
              <a:t>High stakes, low tolerance for error.  </a:t>
            </a:r>
            <a:r>
              <a:rPr sz="1900">
                <a:solidFill>
                  <a:srgbClr val="475569"/>
                </a:solidFill>
              </a:rPr>
              <a:t>Any AI-generated judgment about staff performance is sensitive — it must be checked by a real person before anyone acts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1">
                <a:solidFill>
                  <a:srgbClr val="4F46E5"/>
                </a:solidFill>
              </a:defRPr>
            </a:pPr>
            <a:r>
              <a:t>Goal: automate the reading and analysis — keep a human firmly in control of what's released.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900">
                <a:solidFill>
                  <a:srgbClr val="1E293B"/>
                </a:solidFill>
              </a:rPr>
              <a:t>One Manager, seven Specialists.  </a:t>
            </a:r>
            <a:r>
              <a:rPr sz="1900">
                <a:solidFill>
                  <a:srgbClr val="475569"/>
                </a:solidFill>
              </a:rPr>
              <a:t>A Supervisor agent plans and routes; seven worker agents each do one job — reading documents, reading images, analyzing numbers, reading sentiment, remembering context, writing the report, fact-checking it.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900">
                <a:solidFill>
                  <a:srgbClr val="1E293B"/>
                </a:solidFill>
              </a:rPr>
              <a:t>End-to-end flow.  </a:t>
            </a:r>
            <a:r>
              <a:rPr sz="1900">
                <a:solidFill>
                  <a:srgbClr val="475569"/>
                </a:solidFill>
              </a:rPr>
              <a:t>Upload documents + Facebook data → agents analyze → draft report → a human approves → download the finished report.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900">
                <a:solidFill>
                  <a:srgbClr val="1E293B"/>
                </a:solidFill>
              </a:rPr>
              <a:t>Built to be demo-ready on a free budget.  </a:t>
            </a:r>
            <a:r>
              <a:rPr sz="1900">
                <a:solidFill>
                  <a:srgbClr val="475569"/>
                </a:solidFill>
              </a:rPr>
              <a:t>LangGraph + FastAPI + Streamlit, powered by free-tier OpenRouter models with automatic fallback, local embeddings (no extra API cost), and a CSV-import path so the demo never blocks on Facebook app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System Architecture</a:t>
            </a:r>
          </a:p>
        </p:txBody>
      </p:sp>
      <p:pic>
        <p:nvPicPr>
          <p:cNvPr id="4" name="Picture 3" descr="arch-diagram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19" y="1234440"/>
            <a:ext cx="6052656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Supervisor + 7 Worker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Supervisor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Plans work, routes documents, aggregates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32888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Document Ingestion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PDF / DOCX / PPTX / XLSX → structured text &amp;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48456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Vision / OCR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Scanned forms, screenshots → text (vision LLM)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64024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Data Analyst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pandas over enrollment/results, optional web-search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Social Intelligence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Facebook comments → sentiment (live API or CSV import)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32888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Knowledge / RAG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Chroma-backed semantic memory shared across the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48456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Report Generator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Compiles a cited DOCX + PPTX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764024"/>
            <a:ext cx="534924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b="1" sz="1500">
                <a:solidFill>
                  <a:srgbClr val="1E293B"/>
                </a:solidFill>
              </a:defRPr>
            </a:pPr>
            <a:r>
              <a:t>QA / Critic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Fact-checks the draft against source data before a human sees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Two Collaboration Patterns, Chosen Deliberately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900">
                <a:solidFill>
                  <a:srgbClr val="4F46E5"/>
                </a:solidFill>
              </a:defRPr>
            </a:pPr>
            <a:r>
              <a:t>Intake Graph — Supervisor Hub</a:t>
            </a:r>
          </a:p>
          <a:p>
            <a:pPr>
              <a:spcBef>
                <a:spcPts val="1200"/>
              </a:spcBef>
              <a:defRPr sz="1500">
                <a:solidFill>
                  <a:srgbClr val="475569"/>
                </a:solidFill>
              </a:defRPr>
            </a:pPr>
            <a:r>
              <a:t>A type-based dispatch problem.</a:t>
            </a:r>
          </a:p>
          <a:p>
            <a:pPr>
              <a:spcBef>
                <a:spcPts val="1000"/>
              </a:spcBef>
              <a:defRPr sz="1450">
                <a:solidFill>
                  <a:srgbClr val="475569"/>
                </a:solidFill>
              </a:defRPr>
            </a:pPr>
            <a:r>
              <a:t>Every worker (Document Ingestion, Vision/OCR, Social Intel) returns control to the Supervisor when done — routing logic stays centralized.</a:t>
            </a:r>
          </a:p>
          <a:p>
            <a:pPr>
              <a:spcBef>
                <a:spcPts val="1400"/>
              </a:spcBef>
              <a:defRPr sz="1450" i="1">
                <a:solidFill>
                  <a:srgbClr val="64748B"/>
                </a:solidFill>
              </a:defRPr>
            </a:pPr>
            <a:r>
              <a:t>Adding worker #9 doesn't require touching worker #4's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21208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900">
                <a:solidFill>
                  <a:srgbClr val="D97706"/>
                </a:solidFill>
              </a:defRPr>
            </a:pPr>
            <a:r>
              <a:t>Report Graph — Direct Chain</a:t>
            </a:r>
          </a:p>
          <a:p>
            <a:pPr>
              <a:spcBef>
                <a:spcPts val="1200"/>
              </a:spcBef>
              <a:defRPr sz="1500">
                <a:solidFill>
                  <a:srgbClr val="475569"/>
                </a:solidFill>
              </a:defRPr>
            </a:pPr>
            <a:r>
              <a:t>An inherently sequential problem.</a:t>
            </a:r>
          </a:p>
          <a:p>
            <a:pPr>
              <a:spcBef>
                <a:spcPts val="1000"/>
              </a:spcBef>
              <a:defRPr sz="1450">
                <a:solidFill>
                  <a:srgbClr val="475569"/>
                </a:solidFill>
              </a:defRPr>
            </a:pPr>
            <a:r>
              <a:t>Data Analyst → Knowledge/RAG → Report Generator → QA/Critic → HITL — zero Supervisor node, each agent hands off straight to the next.</a:t>
            </a:r>
          </a:p>
          <a:p>
            <a:pPr>
              <a:spcBef>
                <a:spcPts val="1400"/>
              </a:spcBef>
              <a:defRPr sz="1450" i="1">
                <a:solidFill>
                  <a:srgbClr val="64748B"/>
                </a:solidFill>
              </a:defRPr>
            </a:pPr>
            <a:r>
              <a:t>Confirmed straight from the compiled graph objects (.get_graph().draw_mermaid()), not just claimed.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The Execution Graph panel renders both live from the running code — the diagram cannot lie or go stale.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50">
                <a:solidFill>
                  <a:srgbClr val="1E293B"/>
                </a:solidFill>
              </a:rPr>
              <a:t>Human-in-the-loop approval.  </a:t>
            </a:r>
            <a:r>
              <a:rPr sz="1650">
                <a:solidFill>
                  <a:srgbClr val="475569"/>
                </a:solidFill>
              </a:rPr>
              <a:t>interrupt() pauses before release — approve, reject with feedback, or retry.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50">
                <a:solidFill>
                  <a:srgbClr val="1E293B"/>
                </a:solidFill>
              </a:rPr>
              <a:t>Live token &amp; cost tracking.  </a:t>
            </a:r>
            <a:r>
              <a:rPr sz="1650">
                <a:solidFill>
                  <a:srgbClr val="475569"/>
                </a:solidFill>
              </a:rPr>
              <a:t>Every LLM call's tokens and estimated cost recorded per agent, visible in the UI.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50">
                <a:solidFill>
                  <a:srgbClr val="1E293B"/>
                </a:solidFill>
              </a:rPr>
              <a:t>Dual export.  </a:t>
            </a:r>
            <a:r>
              <a:rPr sz="1650">
                <a:solidFill>
                  <a:srgbClr val="475569"/>
                </a:solidFill>
              </a:rPr>
              <a:t>Every approved report is written as both DOCX and PPTX, with citations.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50">
                <a:solidFill>
                  <a:srgbClr val="1E293B"/>
                </a:solidFill>
              </a:rPr>
              <a:t>Two independent Facebook input paths.  </a:t>
            </a:r>
            <a:r>
              <a:rPr sz="1650">
                <a:solidFill>
                  <a:srgbClr val="475569"/>
                </a:solidFill>
              </a:rPr>
              <a:t>CSV import and the live Graph API both feed the exact same sentiment-scoring step.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50">
                <a:solidFill>
                  <a:srgbClr val="1E293B"/>
                </a:solidFill>
              </a:rPr>
              <a:t>Resilient by design.  </a:t>
            </a:r>
            <a:r>
              <a:rPr sz="1650">
                <a:solidFill>
                  <a:srgbClr val="475569"/>
                </a:solidFill>
              </a:rPr>
              <a:t>Session state survives a backend restart (SQLite) and a browser refresh (URL-persisted session id) — found and fixed by breaking the app on purpose.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50">
                <a:solidFill>
                  <a:srgbClr val="1E293B"/>
                </a:solidFill>
              </a:rPr>
              <a:t>Free-tier LLM resilience.  </a:t>
            </a:r>
            <a:r>
              <a:rPr sz="1650">
                <a:solidFill>
                  <a:srgbClr val="475569"/>
                </a:solidFill>
              </a:rPr>
              <a:t>An ordered OpenRouter fallback list with retry/backoff, degrading gracefully instead of crashing when a model goes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88136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Orchestration</a:t>
            </a:r>
            <a:r>
              <a:rPr sz="1400">
                <a:solidFill>
                  <a:srgbClr val="475569"/>
                </a:solidFill>
              </a:rPr>
              <a:t>   LangGraph — StateGraph, interrupt() for HITL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93392"/>
            <a:ext cx="10881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Backend</a:t>
            </a:r>
            <a:r>
              <a:rPr sz="1400">
                <a:solidFill>
                  <a:srgbClr val="475569"/>
                </a:solidFill>
              </a:rPr>
              <a:t>  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23744"/>
            <a:ext cx="1088136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Frontend</a:t>
            </a:r>
            <a:r>
              <a:rPr sz="1400">
                <a:solidFill>
                  <a:srgbClr val="475569"/>
                </a:solidFill>
              </a:rPr>
              <a:t>   Streamlit — 10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54096"/>
            <a:ext cx="10881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LLMs</a:t>
            </a:r>
            <a:r>
              <a:rPr sz="1400">
                <a:solidFill>
                  <a:srgbClr val="475569"/>
                </a:solidFill>
              </a:rPr>
              <a:t>   OpenRouter — free-tier models, fallback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84448"/>
            <a:ext cx="1088136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Embeddings</a:t>
            </a:r>
            <a:r>
              <a:rPr sz="1400">
                <a:solidFill>
                  <a:srgbClr val="475569"/>
                </a:solidFill>
              </a:rPr>
              <a:t>   sentence-transformers (local, free)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10881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Vector memory</a:t>
            </a:r>
            <a:r>
              <a:rPr sz="1400">
                <a:solidFill>
                  <a:srgbClr val="475569"/>
                </a:solidFill>
              </a:rPr>
              <a:t>   Chroma — one collection per 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45152"/>
            <a:ext cx="1088136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Structured data</a:t>
            </a:r>
            <a:r>
              <a:rPr sz="1400">
                <a:solidFill>
                  <a:srgbClr val="475569"/>
                </a:solidFill>
              </a:rPr>
              <a:t>   SQLite — sessions + HITL checkpoints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75504"/>
            <a:ext cx="10881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Live external data</a:t>
            </a:r>
            <a:r>
              <a:rPr sz="1400">
                <a:solidFill>
                  <a:srgbClr val="475569"/>
                </a:solidFill>
              </a:rPr>
              <a:t>   Facebook Graph API, Tavily web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05856"/>
            <a:ext cx="1088136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1400">
                <a:solidFill>
                  <a:srgbClr val="1E293B"/>
                </a:solidFill>
              </a:rPr>
              <a:t>Deployment</a:t>
            </a:r>
            <a:r>
              <a:rPr sz="1400">
                <a:solidFill>
                  <a:srgbClr val="475569"/>
                </a:solidFill>
              </a:rPr>
              <a:t>   Docker Compose + GitHub Actions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Status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750">
                <a:solidFill>
                  <a:srgbClr val="1E293B"/>
                </a:solidFill>
              </a:rPr>
              <a:t>118 automated backend tests passing.  </a:t>
            </a:r>
            <a:r>
              <a:rPr sz="1750">
                <a:solidFill>
                  <a:srgbClr val="475569"/>
                </a:solidFill>
              </a:rPr>
              <a:t>Unit + integration + end-to-end coverage per tool and agent.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750">
                <a:solidFill>
                  <a:srgbClr val="1E293B"/>
                </a:solidFill>
              </a:rPr>
              <a:t>Full pipeline verified live, end to end.  </a:t>
            </a:r>
            <a:r>
              <a:rPr sz="1750">
                <a:solidFill>
                  <a:srgbClr val="475569"/>
                </a:solidFill>
              </a:rPr>
              <a:t>Upload → intake → analysis → report → QA → human approval → download, run against a real OpenRouter key.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750">
                <a:solidFill>
                  <a:srgbClr val="1E293B"/>
                </a:solidFill>
              </a:rPr>
              <a:t>Real LLM integration confirmed.  </a:t>
            </a:r>
            <a:r>
              <a:rPr sz="1750">
                <a:solidFill>
                  <a:srgbClr val="475569"/>
                </a:solidFill>
              </a:rPr>
              <a:t>Actual token usage and cost tracked per call, not simulated.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750">
                <a:solidFill>
                  <a:srgbClr val="1E293B"/>
                </a:solidFill>
              </a:rPr>
              <a:t>All 10 required frontend panels implemented  </a:t>
            </a:r>
            <a:r>
              <a:rPr sz="1750">
                <a:solidFill>
                  <a:srgbClr val="475569"/>
                </a:solidFill>
              </a:rPr>
              <a:t>and wired to the live backend, not mock data — Dashboard, Trace, Comm Log, Graph, Cost, Logs, Memory, HITL, Report, Home.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b="1" sz="1750">
                <a:solidFill>
                  <a:srgbClr val="1E293B"/>
                </a:solidFill>
              </a:rPr>
              <a:t>Deployable.  </a:t>
            </a:r>
            <a:r>
              <a:rPr sz="1750">
                <a:solidFill>
                  <a:srgbClr val="475569"/>
                </a:solidFill>
              </a:rPr>
              <a:t>Docker Compose (backend + frontend + Postgres + Chroma) with GitHub Actions CI running tests on every push.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Team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6583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b="1" sz="1500">
                <a:solidFill>
                  <a:srgbClr val="4F46E5"/>
                </a:solidFill>
              </a:rPr>
              <a:t>Tarin</a:t>
            </a:r>
            <a:r>
              <a:rPr sz="1400">
                <a:solidFill>
                  <a:srgbClr val="475569"/>
                </a:solidFill>
              </a:rPr>
              <a:t>   Core backend, agent pipeline foundation, testing,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75688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b="1" sz="1500">
                <a:solidFill>
                  <a:srgbClr val="4F46E5"/>
                </a:solidFill>
              </a:rPr>
              <a:t>Saif</a:t>
            </a:r>
            <a:r>
              <a:rPr sz="1400">
                <a:solidFill>
                  <a:srgbClr val="475569"/>
                </a:solidFill>
              </a:rPr>
              <a:t>   Knowledge/RAG, data analysis, frontend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34056"/>
            <a:ext cx="10881360" cy="6583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b="1" sz="1500">
                <a:solidFill>
                  <a:srgbClr val="4F46E5"/>
                </a:solidFill>
              </a:rPr>
              <a:t>Shohana</a:t>
            </a:r>
            <a:r>
              <a:rPr sz="1400">
                <a:solidFill>
                  <a:srgbClr val="475569"/>
                </a:solidFill>
              </a:rPr>
              <a:t>   Sample data, Social Intelligence agent,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92424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  <a:r>
              <a:rPr b="1" sz="1500">
                <a:solidFill>
                  <a:srgbClr val="4F46E5"/>
                </a:solidFill>
              </a:rPr>
              <a:t>Fahim</a:t>
            </a:r>
            <a:r>
              <a:rPr sz="1400">
                <a:solidFill>
                  <a:srgbClr val="475569"/>
                </a:solidFill>
              </a:rPr>
              <a:t>   Report generation, QA/Critic, CI/CD, demo prep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293B"/>
                </a:solidFill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475569"/>
                </a:solidFill>
              </a:rPr>
              <a:t>Full Facebook Graph API OAuth polish for production Page access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475569"/>
                </a:solidFill>
              </a:rPr>
              <a:t>Postgres for production deployment (SQLite covers local dev)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50">
                <a:solidFill>
                  <a:srgbClr val="475569"/>
                </a:solidFill>
              </a:rPr>
              <a:t>Expanded test coverage as remaining edge cases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 AI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